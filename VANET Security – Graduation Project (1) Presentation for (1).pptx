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6111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611188"/>
          </a:xfrm>
          <a:prstGeom prst="rect">
            <a:avLst/>
          </a:prstGeom>
        </p:spPr>
        <p:txBody>
          <a:bodyPr vert="horz" lIns="91440" tIns="45720" rIns="91440" bIns="45720" rtlCol="1"/>
          <a:lstStyle>
            <a:lvl1pPr algn="l">
              <a:defRPr sz="1200"/>
            </a:lvl1pPr>
          </a:lstStyle>
          <a:p>
            <a:fld id="{3678E159-17AA-5B48-A2C2-1DFCE44EE784}" type="datetimeFigureOut">
              <a:rPr lang="ar-SA" smtClean="0"/>
              <a:t>18/05/1448</a:t>
            </a:fld>
            <a:endParaRPr lang="ar-SA"/>
          </a:p>
        </p:txBody>
      </p:sp>
      <p:sp>
        <p:nvSpPr>
          <p:cNvPr id="4" name="عنصر نائب لصورة الشريحة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5867400"/>
            <a:ext cx="5486400" cy="480060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11580813"/>
            <a:ext cx="2971800" cy="6111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11580813"/>
            <a:ext cx="2971800" cy="611187"/>
          </a:xfrm>
          <a:prstGeom prst="rect">
            <a:avLst/>
          </a:prstGeom>
        </p:spPr>
        <p:txBody>
          <a:bodyPr vert="horz" lIns="91440" tIns="45720" rIns="91440" bIns="45720" rtlCol="1" anchor="b"/>
          <a:lstStyle>
            <a:lvl1pPr algn="l">
              <a:defRPr sz="1200"/>
            </a:lvl1pPr>
          </a:lstStyle>
          <a:p>
            <a:fld id="{F4278536-9D90-4847-B304-F5251254F517}" type="slidenum">
              <a:rPr lang="ar-SA" smtClean="0"/>
              <a:t>‹#›</a:t>
            </a:fld>
            <a:endParaRPr lang="ar-SA"/>
          </a:p>
        </p:txBody>
      </p:sp>
    </p:spTree>
    <p:extLst>
      <p:ext uri="{BB962C8B-B14F-4D97-AF65-F5344CB8AC3E}">
        <p14:creationId xmlns:p14="http://schemas.microsoft.com/office/powerpoint/2010/main" val="267737300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571500"/>
            <a:ext cx="10566447" cy="438119"/>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77" y="1314419"/>
            <a:ext cx="10566423" cy="4730781"/>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571500"/>
            <a:ext cx="10566447" cy="438119"/>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77" y="1314419"/>
            <a:ext cx="10566423" cy="4730781"/>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777" y="711184"/>
            <a:ext cx="1088344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A33D"/>
                </a:solidFill>
                <a:latin typeface="Arial" pitchFamily="34" charset="0"/>
                <a:ea typeface="Arial" pitchFamily="34" charset="-122"/>
                <a:cs typeface="Arial" pitchFamily="34" charset="-120"/>
              </a:rPr>
              <a:t>GRADUATION PROJECT (1)</a:t>
            </a:r>
            <a:endParaRPr lang="en-US" sz="1600" dirty="0"/>
          </a:p>
        </p:txBody>
      </p:sp>
      <p:sp>
        <p:nvSpPr>
          <p:cNvPr id="3" name="Text 1"/>
          <p:cNvSpPr>
            <a:spLocks noGrp="1"/>
          </p:cNvSpPr>
          <p:nvPr>
            <p:ph type="title"/>
          </p:nvPr>
        </p:nvSpPr>
        <p:spPr>
          <a:xfrm>
            <a:off x="812777" y="1850410"/>
            <a:ext cx="10883440" cy="1339757"/>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F4F6F8"/>
                </a:solidFill>
                <a:latin typeface="Arial" pitchFamily="34" charset="0"/>
                <a:ea typeface="Arial" pitchFamily="34" charset="-122"/>
                <a:cs typeface="Arial" pitchFamily="34" charset="-120"/>
              </a:rPr>
              <a:t>Analyzing Security Vulnerabilities and Developing Defense Mechanisms in Vehicular Ad Hoc Networks (VANET)</a:t>
            </a:r>
            <a:endParaRPr lang="en-US" sz="3000" dirty="0"/>
          </a:p>
        </p:txBody>
      </p:sp>
      <p:sp>
        <p:nvSpPr>
          <p:cNvPr id="4" name="Text 2"/>
          <p:cNvSpPr/>
          <p:nvPr/>
        </p:nvSpPr>
        <p:spPr>
          <a:xfrm>
            <a:off x="812777" y="4019566"/>
            <a:ext cx="1305703" cy="2565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3C8"/>
                </a:solidFill>
                <a:latin typeface="Arial" pitchFamily="34" charset="0"/>
                <a:ea typeface="Arial" pitchFamily="34" charset="-122"/>
                <a:cs typeface="Arial" pitchFamily="34" charset="-120"/>
              </a:rPr>
              <a:t>Students</a:t>
            </a:r>
            <a:endParaRPr lang="en-US" sz="1300" dirty="0"/>
          </a:p>
        </p:txBody>
      </p:sp>
      <p:sp>
        <p:nvSpPr>
          <p:cNvPr id="5" name="Text 3"/>
          <p:cNvSpPr/>
          <p:nvPr/>
        </p:nvSpPr>
        <p:spPr>
          <a:xfrm>
            <a:off x="812777" y="4326872"/>
            <a:ext cx="1505884"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ريم رامي بعاج</a:t>
            </a:r>
            <a:endParaRPr lang="en-US" sz="1900" dirty="0"/>
          </a:p>
        </p:txBody>
      </p:sp>
      <p:sp>
        <p:nvSpPr>
          <p:cNvPr id="6" name="Text 4"/>
          <p:cNvSpPr/>
          <p:nvPr/>
        </p:nvSpPr>
        <p:spPr>
          <a:xfrm>
            <a:off x="812777" y="4740866"/>
            <a:ext cx="1305703"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عدنان صبري</a:t>
            </a:r>
            <a:endParaRPr lang="en-US" sz="1900" dirty="0"/>
          </a:p>
        </p:txBody>
      </p:sp>
      <p:sp>
        <p:nvSpPr>
          <p:cNvPr id="7" name="Text 5"/>
          <p:cNvSpPr/>
          <p:nvPr/>
        </p:nvSpPr>
        <p:spPr>
          <a:xfrm>
            <a:off x="2677272" y="4019566"/>
            <a:ext cx="1610441" cy="2565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3C8"/>
                </a:solidFill>
                <a:latin typeface="Arial" pitchFamily="34" charset="0"/>
                <a:ea typeface="Arial" pitchFamily="34" charset="-122"/>
                <a:cs typeface="Arial" pitchFamily="34" charset="-120"/>
              </a:rPr>
              <a:t>Supervisors</a:t>
            </a:r>
            <a:endParaRPr lang="en-US" sz="1300" dirty="0"/>
          </a:p>
        </p:txBody>
      </p:sp>
      <p:sp>
        <p:nvSpPr>
          <p:cNvPr id="8" name="Text 6"/>
          <p:cNvSpPr/>
          <p:nvPr/>
        </p:nvSpPr>
        <p:spPr>
          <a:xfrm>
            <a:off x="2677272" y="4326872"/>
            <a:ext cx="1610441"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وسيم جنيدي</a:t>
            </a:r>
            <a:endParaRPr lang="en-US" sz="1900" dirty="0"/>
          </a:p>
        </p:txBody>
      </p:sp>
      <p:sp>
        <p:nvSpPr>
          <p:cNvPr id="9" name="Text 7"/>
          <p:cNvSpPr/>
          <p:nvPr/>
        </p:nvSpPr>
        <p:spPr>
          <a:xfrm>
            <a:off x="2677272" y="4740866"/>
            <a:ext cx="1871569"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محمد يامن حلاق</a:t>
            </a:r>
            <a:endParaRPr lang="en-US" sz="1900" dirty="0"/>
          </a:p>
        </p:txBody>
      </p:sp>
      <p:sp>
        <p:nvSpPr>
          <p:cNvPr id="10" name="Text 8"/>
          <p:cNvSpPr/>
          <p:nvPr/>
        </p:nvSpPr>
        <p:spPr>
          <a:xfrm>
            <a:off x="11015359" y="5933476"/>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Arial" pitchFamily="34" charset="0"/>
                <a:ea typeface="Arial" pitchFamily="34" charset="-122"/>
                <a:cs typeface="Arial" pitchFamily="34" charset="-120"/>
              </a:rPr>
              <a:t>1 / 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635000"/>
            <a:ext cx="10883440" cy="49274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E8A33D"/>
                </a:solidFill>
                <a:latin typeface="Arial" pitchFamily="34" charset="0"/>
                <a:ea typeface="Arial" pitchFamily="34" charset="-122"/>
                <a:cs typeface="Arial" pitchFamily="34" charset="-120"/>
              </a:rPr>
              <a:t>Project Objective and Previous Stages</a:t>
            </a:r>
            <a:endParaRPr lang="en-US" sz="3200" dirty="0"/>
          </a:p>
        </p:txBody>
      </p:sp>
      <p:sp>
        <p:nvSpPr>
          <p:cNvPr id="3" name="Text 1"/>
          <p:cNvSpPr/>
          <p:nvPr/>
        </p:nvSpPr>
        <p:spPr>
          <a:xfrm>
            <a:off x="812777" y="1407116"/>
            <a:ext cx="5206270" cy="33017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A33D"/>
                </a:solidFill>
                <a:latin typeface="Arial" pitchFamily="34" charset="0"/>
                <a:ea typeface="Arial" pitchFamily="34" charset="-122"/>
                <a:cs typeface="Arial" pitchFamily="34" charset="-120"/>
              </a:rPr>
              <a:t>Objective</a:t>
            </a:r>
            <a:endParaRPr lang="en-US" sz="2000" dirty="0"/>
          </a:p>
        </p:txBody>
      </p:sp>
      <p:sp>
        <p:nvSpPr>
          <p:cNvPr id="4" name="Text 2"/>
          <p:cNvSpPr/>
          <p:nvPr/>
        </p:nvSpPr>
        <p:spPr>
          <a:xfrm>
            <a:off x="883135" y="1864262"/>
            <a:ext cx="5128292" cy="1345982"/>
          </a:xfrm>
          <a:prstGeom prst="rect">
            <a:avLst/>
          </a:prstGeom>
          <a:noFill/>
          <a:ln/>
        </p:spPr>
        <p:txBody>
          <a:bodyPr wrap="square" lIns="0" tIns="0" rIns="0" bIns="0" rtlCol="0" anchor="t">
            <a:normAutofit/>
          </a:bodyPr>
          <a:lstStyle/>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Study and simulate the VANET network and its surrounding security threats, carry out a specific attack, and develop a defense mechanism</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Proposed attacks for this semester: Black hole and Jamming</a:t>
            </a:r>
            <a:endParaRPr lang="en-US" sz="1600" dirty="0"/>
          </a:p>
        </p:txBody>
      </p:sp>
      <p:sp>
        <p:nvSpPr>
          <p:cNvPr id="5" name="Text 3"/>
          <p:cNvSpPr/>
          <p:nvPr/>
        </p:nvSpPr>
        <p:spPr>
          <a:xfrm>
            <a:off x="686264" y="3278814"/>
            <a:ext cx="5206270" cy="33017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A33D"/>
                </a:solidFill>
                <a:latin typeface="Arial" pitchFamily="34" charset="0"/>
                <a:ea typeface="Arial" pitchFamily="34" charset="-122"/>
                <a:cs typeface="Arial" pitchFamily="34" charset="-120"/>
              </a:rPr>
              <a:t>Completed in the Semester Project</a:t>
            </a:r>
            <a:endParaRPr lang="en-US" sz="2000" dirty="0"/>
          </a:p>
        </p:txBody>
      </p:sp>
      <p:sp>
        <p:nvSpPr>
          <p:cNvPr id="6" name="Text 4"/>
          <p:cNvSpPr/>
          <p:nvPr/>
        </p:nvSpPr>
        <p:spPr>
          <a:xfrm>
            <a:off x="725253" y="4046460"/>
            <a:ext cx="5128292" cy="817749"/>
          </a:xfrm>
          <a:prstGeom prst="rect">
            <a:avLst/>
          </a:prstGeom>
          <a:noFill/>
          <a:ln/>
        </p:spPr>
        <p:txBody>
          <a:bodyPr wrap="square" lIns="0" tIns="0" rIns="0" bIns="0" rtlCol="0" anchor="t">
            <a:normAutofit/>
          </a:bodyPr>
          <a:lstStyle/>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Preparing the VANET environment</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Creating an IP Spoofing attack, detecting it, and devising a mechanism to counter it</a:t>
            </a:r>
            <a:endParaRPr lang="en-US" sz="1600" dirty="0"/>
          </a:p>
        </p:txBody>
      </p:sp>
      <p:sp>
        <p:nvSpPr>
          <p:cNvPr id="7" name="Text 5"/>
          <p:cNvSpPr/>
          <p:nvPr/>
        </p:nvSpPr>
        <p:spPr>
          <a:xfrm>
            <a:off x="11015359" y="3489621"/>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Arial" pitchFamily="34" charset="0"/>
                <a:ea typeface="Arial" pitchFamily="34" charset="-122"/>
                <a:cs typeface="Arial" pitchFamily="34" charset="-120"/>
              </a:rPr>
              <a:t>2 / 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592" y="508000"/>
            <a:ext cx="11302000" cy="434298"/>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Arial" pitchFamily="34" charset="0"/>
                <a:ea typeface="Arial" pitchFamily="34" charset="-122"/>
                <a:cs typeface="Arial" pitchFamily="34" charset="-120"/>
              </a:rPr>
              <a:t>Literature Review (1/2): Comparison Table</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2043" y="1132533"/>
          <a:ext cx="10909549" cy="4032251"/>
        </p:xfrm>
        <a:graphic>
          <a:graphicData uri="http://schemas.openxmlformats.org/drawingml/2006/table">
            <a:tbl>
              <a:tblPr/>
              <a:tblGrid>
                <a:gridCol w="1432567">
                  <a:extLst>
                    <a:ext uri="{9D8B030D-6E8A-4147-A177-3AD203B41FA5}">
                      <a16:colId xmlns:a16="http://schemas.microsoft.com/office/drawing/2014/main" val="20000"/>
                    </a:ext>
                  </a:extLst>
                </a:gridCol>
                <a:gridCol w="550987">
                  <a:extLst>
                    <a:ext uri="{9D8B030D-6E8A-4147-A177-3AD203B41FA5}">
                      <a16:colId xmlns:a16="http://schemas.microsoft.com/office/drawing/2014/main" val="20001"/>
                    </a:ext>
                  </a:extLst>
                </a:gridCol>
                <a:gridCol w="2644739">
                  <a:extLst>
                    <a:ext uri="{9D8B030D-6E8A-4147-A177-3AD203B41FA5}">
                      <a16:colId xmlns:a16="http://schemas.microsoft.com/office/drawing/2014/main" val="20002"/>
                    </a:ext>
                  </a:extLst>
                </a:gridCol>
                <a:gridCol w="2093752">
                  <a:extLst>
                    <a:ext uri="{9D8B030D-6E8A-4147-A177-3AD203B41FA5}">
                      <a16:colId xmlns:a16="http://schemas.microsoft.com/office/drawing/2014/main" val="20003"/>
                    </a:ext>
                  </a:extLst>
                </a:gridCol>
                <a:gridCol w="2093752">
                  <a:extLst>
                    <a:ext uri="{9D8B030D-6E8A-4147-A177-3AD203B41FA5}">
                      <a16:colId xmlns:a16="http://schemas.microsoft.com/office/drawing/2014/main" val="20004"/>
                    </a:ext>
                  </a:extLst>
                </a:gridCol>
                <a:gridCol w="2093752">
                  <a:extLst>
                    <a:ext uri="{9D8B030D-6E8A-4147-A177-3AD203B41FA5}">
                      <a16:colId xmlns:a16="http://schemas.microsoft.com/office/drawing/2014/main" val="20005"/>
                    </a:ext>
                  </a:extLst>
                </a:gridCol>
              </a:tblGrid>
              <a:tr h="599126">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Publisher / Journal</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Year</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Study</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What it covered</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Research gap</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Comparison with our project</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212531">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Inderscience, Int. J. Vehicle Information and Communication Systems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Performance Analysis of AODV-Based VANETs in Guwahati City: A Comparative Study of Propagation Models [1]</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AODV baseline in a city scenario (SUMO + NS-3) with different propagation models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No attacks or security evaluation</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Used as our no-attack baseline; we add attacks on top of it</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1008063">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Jurnal Online Informatika (JOIN)</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Performance Evaluation of Vehicular Ad Hoc Networks Considering Malicious Node Impact on Quality of Services Metrics [2]</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Black hole and wormhole impact on QoS; black hole raised packet loss from 29% to 59%</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Measures the impact only; no detection or defense</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Same SUMO + NS-3 setup; we also build a detection method</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1212531">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Springer, EURASIP J. Wireless Communications and Networking</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Discovering Authentic Routes Using a Cryptographic Approach Against Blackhole Attack [3]</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Cryptographic authentication of RREQ/RREP in AODV; PDR of 57.5%–81.82% (40–100 nodes)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Prevention only; adds cryptographic overhead</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Behavioral detection from packet traces, without key management</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11218543" y="5367968"/>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3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592" y="508000"/>
            <a:ext cx="11302000" cy="434298"/>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Arial" pitchFamily="34" charset="0"/>
                <a:ea typeface="Arial" pitchFamily="34" charset="-122"/>
                <a:cs typeface="Arial" pitchFamily="34" charset="-120"/>
              </a:rPr>
              <a:t>Literature Review (2/2): Comparison Table and Research Gap</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2043" y="1132533"/>
          <a:ext cx="10909549" cy="2410783"/>
        </p:xfrm>
        <a:graphic>
          <a:graphicData uri="http://schemas.openxmlformats.org/drawingml/2006/table">
            <a:tbl>
              <a:tblPr/>
              <a:tblGrid>
                <a:gridCol w="1432567">
                  <a:extLst>
                    <a:ext uri="{9D8B030D-6E8A-4147-A177-3AD203B41FA5}">
                      <a16:colId xmlns:a16="http://schemas.microsoft.com/office/drawing/2014/main" val="20000"/>
                    </a:ext>
                  </a:extLst>
                </a:gridCol>
                <a:gridCol w="550987">
                  <a:extLst>
                    <a:ext uri="{9D8B030D-6E8A-4147-A177-3AD203B41FA5}">
                      <a16:colId xmlns:a16="http://schemas.microsoft.com/office/drawing/2014/main" val="20001"/>
                    </a:ext>
                  </a:extLst>
                </a:gridCol>
                <a:gridCol w="2644739">
                  <a:extLst>
                    <a:ext uri="{9D8B030D-6E8A-4147-A177-3AD203B41FA5}">
                      <a16:colId xmlns:a16="http://schemas.microsoft.com/office/drawing/2014/main" val="20002"/>
                    </a:ext>
                  </a:extLst>
                </a:gridCol>
                <a:gridCol w="2093752">
                  <a:extLst>
                    <a:ext uri="{9D8B030D-6E8A-4147-A177-3AD203B41FA5}">
                      <a16:colId xmlns:a16="http://schemas.microsoft.com/office/drawing/2014/main" val="20003"/>
                    </a:ext>
                  </a:extLst>
                </a:gridCol>
                <a:gridCol w="2093752">
                  <a:extLst>
                    <a:ext uri="{9D8B030D-6E8A-4147-A177-3AD203B41FA5}">
                      <a16:colId xmlns:a16="http://schemas.microsoft.com/office/drawing/2014/main" val="20004"/>
                    </a:ext>
                  </a:extLst>
                </a:gridCol>
                <a:gridCol w="2093752">
                  <a:extLst>
                    <a:ext uri="{9D8B030D-6E8A-4147-A177-3AD203B41FA5}">
                      <a16:colId xmlns:a16="http://schemas.microsoft.com/office/drawing/2014/main" val="20005"/>
                    </a:ext>
                  </a:extLst>
                </a:gridCol>
              </a:tblGrid>
              <a:tr h="599126">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Publisher / Journal</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Year</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Study</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What it covered</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Research gap</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Comparison with our project</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008063">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Int. J. Innovative Research and Scientific Studies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GAN-Augmented Adversarial Training for Robust Detection of Complex Jamming Attacks in VANET Intelligent Systems [4]</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GAN-augmented CNN–Random Forest jamming detection; 93.4% F1-score</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Jamming only; focuses on the detection model</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We simulate jamming and measure its impact on the network</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803594">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Int. J. Intelligent Engineering and Systems (IJIES)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Leveraging DenseNet-ABiLSTM for Effective Jamming Attack Detection in VANETs [5]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DenseNet-ABiLSTM jamming detection; 98.7% binary accuracy</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Jamming only; dataset-based deep learning</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We combine jamming and black hole in one simulated VANET</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Shape 1"/>
          <p:cNvSpPr/>
          <p:nvPr/>
        </p:nvSpPr>
        <p:spPr>
          <a:xfrm>
            <a:off x="609592" y="3746500"/>
            <a:ext cx="6478946" cy="2049820"/>
          </a:xfrm>
          <a:prstGeom prst="roundRect">
            <a:avLst>
              <a:gd name="adj" fmla="val 4957"/>
            </a:avLst>
          </a:prstGeom>
          <a:solidFill>
            <a:srgbClr val="14213D"/>
          </a:solidFill>
          <a:ln/>
        </p:spPr>
      </p:sp>
      <p:sp>
        <p:nvSpPr>
          <p:cNvPr id="5" name="Text 2"/>
          <p:cNvSpPr/>
          <p:nvPr/>
        </p:nvSpPr>
        <p:spPr>
          <a:xfrm>
            <a:off x="863592" y="3924277"/>
            <a:ext cx="6150074" cy="2692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8A33D"/>
                </a:solidFill>
                <a:latin typeface="Arial" pitchFamily="34" charset="0"/>
                <a:ea typeface="Arial" pitchFamily="34" charset="-122"/>
                <a:cs typeface="Arial" pitchFamily="34" charset="-120"/>
              </a:rPr>
              <a:t>Research gap</a:t>
            </a:r>
            <a:endParaRPr lang="en-US" sz="1600" dirty="0"/>
          </a:p>
        </p:txBody>
      </p:sp>
      <p:sp>
        <p:nvSpPr>
          <p:cNvPr id="6" name="Text 3"/>
          <p:cNvSpPr/>
          <p:nvPr/>
        </p:nvSpPr>
        <p:spPr>
          <a:xfrm>
            <a:off x="863592" y="4231584"/>
            <a:ext cx="6150074" cy="14123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4F6F8"/>
                </a:solidFill>
                <a:latin typeface="Arial" pitchFamily="34" charset="0"/>
                <a:ea typeface="Arial" pitchFamily="34" charset="-122"/>
                <a:cs typeface="Arial" pitchFamily="34" charset="-120"/>
              </a:rPr>
              <a:t>Existing studies each cover only one piece: attack-free baselines [1], impact measurement without defense [2], prevention that adds cryptographic overhead [3], and dataset-based jamming detection without a simulated network evaluation [4][5]. None combines attack simulation, detection and a defense mechanism in one realistic SUMO + NS-3 VANET scenario.</a:t>
            </a:r>
            <a:endParaRPr lang="en-US" sz="1400" dirty="0"/>
          </a:p>
        </p:txBody>
      </p:sp>
      <p:sp>
        <p:nvSpPr>
          <p:cNvPr id="7" name="Shape 4"/>
          <p:cNvSpPr/>
          <p:nvPr/>
        </p:nvSpPr>
        <p:spPr>
          <a:xfrm>
            <a:off x="7291722" y="3746500"/>
            <a:ext cx="4239870" cy="2049820"/>
          </a:xfrm>
          <a:prstGeom prst="roundRect">
            <a:avLst>
              <a:gd name="adj" fmla="val 4957"/>
            </a:avLst>
          </a:prstGeom>
          <a:solidFill>
            <a:srgbClr val="E8A33D"/>
          </a:solidFill>
          <a:ln/>
        </p:spPr>
      </p:sp>
      <p:sp>
        <p:nvSpPr>
          <p:cNvPr id="8" name="Text 5"/>
          <p:cNvSpPr/>
          <p:nvPr/>
        </p:nvSpPr>
        <p:spPr>
          <a:xfrm>
            <a:off x="7545722" y="3924277"/>
            <a:ext cx="3843826" cy="2692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Goal</a:t>
            </a:r>
            <a:endParaRPr lang="en-US" sz="1600" dirty="0"/>
          </a:p>
        </p:txBody>
      </p:sp>
      <p:sp>
        <p:nvSpPr>
          <p:cNvPr id="9" name="Text 6"/>
          <p:cNvSpPr/>
          <p:nvPr/>
        </p:nvSpPr>
        <p:spPr>
          <a:xfrm>
            <a:off x="7545722" y="4231584"/>
            <a:ext cx="3843826" cy="95004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4213D"/>
                </a:solidFill>
                <a:latin typeface="Arial" pitchFamily="34" charset="0"/>
                <a:ea typeface="Arial" pitchFamily="34" charset="-122"/>
                <a:cs typeface="Arial" pitchFamily="34" charset="-120"/>
              </a:rPr>
              <a:t>Simulate Black hole and Jamming attacks in a realistic SUMO + NS-3 VANET, then develop and evaluate a detection and defense mechanism against them.</a:t>
            </a:r>
            <a:endParaRPr lang="en-US" sz="1400" dirty="0"/>
          </a:p>
        </p:txBody>
      </p:sp>
      <p:sp>
        <p:nvSpPr>
          <p:cNvPr id="10" name="Text 7"/>
          <p:cNvSpPr/>
          <p:nvPr/>
        </p:nvSpPr>
        <p:spPr>
          <a:xfrm>
            <a:off x="11218543" y="5999507"/>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4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71500"/>
            <a:ext cx="10883440" cy="463519"/>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Arial" pitchFamily="34" charset="0"/>
                <a:ea typeface="Arial" pitchFamily="34" charset="-122"/>
                <a:cs typeface="Arial" pitchFamily="34" charset="-120"/>
              </a:rPr>
              <a:t>Implementation Phases and Tools</a:t>
            </a:r>
            <a:endParaRPr lang="en-US" sz="3000" dirty="0"/>
          </a:p>
        </p:txBody>
      </p:sp>
      <p:sp>
        <p:nvSpPr>
          <p:cNvPr id="3" name="Shape 1"/>
          <p:cNvSpPr/>
          <p:nvPr/>
        </p:nvSpPr>
        <p:spPr>
          <a:xfrm>
            <a:off x="815952" y="1215978"/>
            <a:ext cx="2005339" cy="2416533"/>
          </a:xfrm>
          <a:prstGeom prst="roundRect">
            <a:avLst>
              <a:gd name="adj" fmla="val 4908"/>
            </a:avLst>
          </a:prstGeom>
          <a:solidFill>
            <a:srgbClr val="FFFFFF"/>
          </a:solidFill>
          <a:ln w="6350">
            <a:solidFill>
              <a:srgbClr val="C9D1D9"/>
            </a:solidFill>
            <a:prstDash val="solid"/>
          </a:ln>
        </p:spPr>
      </p:sp>
      <p:sp>
        <p:nvSpPr>
          <p:cNvPr id="4" name="Text 2"/>
          <p:cNvSpPr/>
          <p:nvPr/>
        </p:nvSpPr>
        <p:spPr>
          <a:xfrm>
            <a:off x="970126"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1</a:t>
            </a:r>
            <a:endParaRPr lang="en-US" sz="2400" dirty="0"/>
          </a:p>
        </p:txBody>
      </p:sp>
      <p:sp>
        <p:nvSpPr>
          <p:cNvPr id="5" name="Text 3"/>
          <p:cNvSpPr/>
          <p:nvPr/>
        </p:nvSpPr>
        <p:spPr>
          <a:xfrm>
            <a:off x="970126"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Scenario design</a:t>
            </a:r>
            <a:endParaRPr lang="en-US" sz="1500" dirty="0"/>
          </a:p>
        </p:txBody>
      </p:sp>
      <p:sp>
        <p:nvSpPr>
          <p:cNvPr id="6" name="Text 4"/>
          <p:cNvSpPr/>
          <p:nvPr/>
        </p:nvSpPr>
        <p:spPr>
          <a:xfrm>
            <a:off x="970126" y="2203239"/>
            <a:ext cx="1747901" cy="42165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Real city map and traffic density/speed in SUMO</a:t>
            </a:r>
            <a:endParaRPr lang="en-US" sz="1200" dirty="0"/>
          </a:p>
        </p:txBody>
      </p:sp>
      <p:sp>
        <p:nvSpPr>
          <p:cNvPr id="7" name="Shape 5"/>
          <p:cNvSpPr/>
          <p:nvPr/>
        </p:nvSpPr>
        <p:spPr>
          <a:xfrm>
            <a:off x="2954641" y="1215978"/>
            <a:ext cx="2005339" cy="2416533"/>
          </a:xfrm>
          <a:prstGeom prst="roundRect">
            <a:avLst>
              <a:gd name="adj" fmla="val 4908"/>
            </a:avLst>
          </a:prstGeom>
          <a:solidFill>
            <a:srgbClr val="FFFFFF"/>
          </a:solidFill>
          <a:ln w="6350">
            <a:solidFill>
              <a:srgbClr val="C9D1D9"/>
            </a:solidFill>
            <a:prstDash val="solid"/>
          </a:ln>
        </p:spPr>
      </p:sp>
      <p:sp>
        <p:nvSpPr>
          <p:cNvPr id="8" name="Text 6"/>
          <p:cNvSpPr/>
          <p:nvPr/>
        </p:nvSpPr>
        <p:spPr>
          <a:xfrm>
            <a:off x="3108815"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2</a:t>
            </a:r>
            <a:endParaRPr lang="en-US" sz="2400" dirty="0"/>
          </a:p>
        </p:txBody>
      </p:sp>
      <p:sp>
        <p:nvSpPr>
          <p:cNvPr id="9" name="Text 7"/>
          <p:cNvSpPr/>
          <p:nvPr/>
        </p:nvSpPr>
        <p:spPr>
          <a:xfrm>
            <a:off x="3108815"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Normal case</a:t>
            </a:r>
            <a:endParaRPr lang="en-US" sz="1500" dirty="0"/>
          </a:p>
        </p:txBody>
      </p:sp>
      <p:sp>
        <p:nvSpPr>
          <p:cNvPr id="10" name="Text 8"/>
          <p:cNvSpPr/>
          <p:nvPr/>
        </p:nvSpPr>
        <p:spPr>
          <a:xfrm>
            <a:off x="3108815" y="2203239"/>
            <a:ext cx="1747901" cy="619779"/>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Run without attacks and extract KPIs (delay, packet loss)</a:t>
            </a:r>
            <a:endParaRPr lang="en-US" sz="1200" dirty="0"/>
          </a:p>
        </p:txBody>
      </p:sp>
      <p:sp>
        <p:nvSpPr>
          <p:cNvPr id="11" name="Shape 9"/>
          <p:cNvSpPr/>
          <p:nvPr/>
        </p:nvSpPr>
        <p:spPr>
          <a:xfrm>
            <a:off x="5093331" y="1215978"/>
            <a:ext cx="2005339" cy="2416533"/>
          </a:xfrm>
          <a:prstGeom prst="roundRect">
            <a:avLst>
              <a:gd name="adj" fmla="val 4908"/>
            </a:avLst>
          </a:prstGeom>
          <a:solidFill>
            <a:srgbClr val="FFFFFF"/>
          </a:solidFill>
          <a:ln w="6350">
            <a:solidFill>
              <a:srgbClr val="C9D1D9"/>
            </a:solidFill>
            <a:prstDash val="solid"/>
          </a:ln>
        </p:spPr>
      </p:sp>
      <p:sp>
        <p:nvSpPr>
          <p:cNvPr id="12" name="Text 10"/>
          <p:cNvSpPr/>
          <p:nvPr/>
        </p:nvSpPr>
        <p:spPr>
          <a:xfrm>
            <a:off x="5247505"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3</a:t>
            </a:r>
            <a:endParaRPr lang="en-US" sz="2400" dirty="0"/>
          </a:p>
        </p:txBody>
      </p:sp>
      <p:sp>
        <p:nvSpPr>
          <p:cNvPr id="13" name="Text 11"/>
          <p:cNvSpPr/>
          <p:nvPr/>
        </p:nvSpPr>
        <p:spPr>
          <a:xfrm>
            <a:off x="5247505"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Jamming</a:t>
            </a:r>
            <a:endParaRPr lang="en-US" sz="1500" dirty="0"/>
          </a:p>
        </p:txBody>
      </p:sp>
      <p:sp>
        <p:nvSpPr>
          <p:cNvPr id="14" name="Text 12"/>
          <p:cNvSpPr/>
          <p:nvPr/>
        </p:nvSpPr>
        <p:spPr>
          <a:xfrm>
            <a:off x="5247505" y="2203239"/>
            <a:ext cx="1747901" cy="42165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Physical-layer attack simulation</a:t>
            </a:r>
            <a:endParaRPr lang="en-US" sz="1200" dirty="0"/>
          </a:p>
        </p:txBody>
      </p:sp>
      <p:sp>
        <p:nvSpPr>
          <p:cNvPr id="15" name="Shape 13"/>
          <p:cNvSpPr/>
          <p:nvPr/>
        </p:nvSpPr>
        <p:spPr>
          <a:xfrm>
            <a:off x="7232020" y="1215978"/>
            <a:ext cx="2005339" cy="2416533"/>
          </a:xfrm>
          <a:prstGeom prst="roundRect">
            <a:avLst>
              <a:gd name="adj" fmla="val 4908"/>
            </a:avLst>
          </a:prstGeom>
          <a:solidFill>
            <a:srgbClr val="FFFFFF"/>
          </a:solidFill>
          <a:ln w="6350">
            <a:solidFill>
              <a:srgbClr val="C9D1D9"/>
            </a:solidFill>
            <a:prstDash val="solid"/>
          </a:ln>
        </p:spPr>
      </p:sp>
      <p:sp>
        <p:nvSpPr>
          <p:cNvPr id="16" name="Text 14"/>
          <p:cNvSpPr/>
          <p:nvPr/>
        </p:nvSpPr>
        <p:spPr>
          <a:xfrm>
            <a:off x="7386194"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4</a:t>
            </a:r>
            <a:endParaRPr lang="en-US" sz="2400" dirty="0"/>
          </a:p>
        </p:txBody>
      </p:sp>
      <p:sp>
        <p:nvSpPr>
          <p:cNvPr id="17" name="Text 15"/>
          <p:cNvSpPr/>
          <p:nvPr/>
        </p:nvSpPr>
        <p:spPr>
          <a:xfrm>
            <a:off x="7386194"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Black hole</a:t>
            </a:r>
            <a:endParaRPr lang="en-US" sz="1500" dirty="0"/>
          </a:p>
        </p:txBody>
      </p:sp>
      <p:sp>
        <p:nvSpPr>
          <p:cNvPr id="18" name="Text 16"/>
          <p:cNvSpPr/>
          <p:nvPr/>
        </p:nvSpPr>
        <p:spPr>
          <a:xfrm>
            <a:off x="7386194" y="2203239"/>
            <a:ext cx="1747901" cy="121415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Network-layer routing attack involving malicious packet dropping and potentially forged AODV route replies</a:t>
            </a:r>
            <a:endParaRPr lang="en-US" sz="1200" dirty="0"/>
          </a:p>
        </p:txBody>
      </p:sp>
      <p:sp>
        <p:nvSpPr>
          <p:cNvPr id="19" name="Shape 17"/>
          <p:cNvSpPr/>
          <p:nvPr/>
        </p:nvSpPr>
        <p:spPr>
          <a:xfrm>
            <a:off x="9370709" y="1215978"/>
            <a:ext cx="2005339" cy="2416533"/>
          </a:xfrm>
          <a:prstGeom prst="roundRect">
            <a:avLst>
              <a:gd name="adj" fmla="val 4908"/>
            </a:avLst>
          </a:prstGeom>
          <a:solidFill>
            <a:srgbClr val="FFFFFF"/>
          </a:solidFill>
          <a:ln w="6350">
            <a:solidFill>
              <a:srgbClr val="C9D1D9"/>
            </a:solidFill>
            <a:prstDash val="solid"/>
          </a:ln>
        </p:spPr>
      </p:sp>
      <p:sp>
        <p:nvSpPr>
          <p:cNvPr id="20" name="Text 18"/>
          <p:cNvSpPr/>
          <p:nvPr/>
        </p:nvSpPr>
        <p:spPr>
          <a:xfrm>
            <a:off x="9524884"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5</a:t>
            </a:r>
            <a:endParaRPr lang="en-US" sz="2400" dirty="0"/>
          </a:p>
        </p:txBody>
      </p:sp>
      <p:sp>
        <p:nvSpPr>
          <p:cNvPr id="21" name="Text 19"/>
          <p:cNvSpPr/>
          <p:nvPr/>
        </p:nvSpPr>
        <p:spPr>
          <a:xfrm>
            <a:off x="9524884" y="1898464"/>
            <a:ext cx="1747901" cy="711177"/>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Developing and evaluating the security solution</a:t>
            </a:r>
            <a:endParaRPr lang="en-US" sz="1500" dirty="0"/>
          </a:p>
        </p:txBody>
      </p:sp>
      <p:sp>
        <p:nvSpPr>
          <p:cNvPr id="22" name="Text 20"/>
          <p:cNvSpPr/>
          <p:nvPr/>
        </p:nvSpPr>
        <p:spPr>
          <a:xfrm>
            <a:off x="9524884" y="2660424"/>
            <a:ext cx="1747901" cy="81790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Design the defense mechanism and measure its effect on network performance</a:t>
            </a:r>
            <a:endParaRPr lang="en-US" sz="1200" dirty="0"/>
          </a:p>
        </p:txBody>
      </p:sp>
      <p:sp>
        <p:nvSpPr>
          <p:cNvPr id="23" name="Text 21"/>
          <p:cNvSpPr/>
          <p:nvPr/>
        </p:nvSpPr>
        <p:spPr>
          <a:xfrm>
            <a:off x="812777" y="3838873"/>
            <a:ext cx="10883440" cy="29971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7A75"/>
                </a:solidFill>
                <a:latin typeface="Arial" pitchFamily="34" charset="0"/>
                <a:ea typeface="Arial" pitchFamily="34" charset="-122"/>
                <a:cs typeface="Arial" pitchFamily="34" charset="-120"/>
              </a:rPr>
              <a:t>Tools used</a:t>
            </a:r>
            <a:endParaRPr lang="en-US" sz="1800" dirty="0"/>
          </a:p>
        </p:txBody>
      </p:sp>
      <p:sp>
        <p:nvSpPr>
          <p:cNvPr id="24" name="Shape 22"/>
          <p:cNvSpPr/>
          <p:nvPr/>
        </p:nvSpPr>
        <p:spPr>
          <a:xfrm>
            <a:off x="812777" y="4316366"/>
            <a:ext cx="2546381" cy="734024"/>
          </a:xfrm>
          <a:prstGeom prst="roundRect">
            <a:avLst>
              <a:gd name="adj" fmla="val 10381"/>
            </a:avLst>
          </a:prstGeom>
          <a:solidFill>
            <a:srgbClr val="14213D"/>
          </a:solidFill>
          <a:ln/>
        </p:spPr>
      </p:sp>
      <p:sp>
        <p:nvSpPr>
          <p:cNvPr id="25" name="Text 23"/>
          <p:cNvSpPr/>
          <p:nvPr/>
        </p:nvSpPr>
        <p:spPr>
          <a:xfrm>
            <a:off x="965146" y="4443366"/>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SUMO</a:t>
            </a:r>
            <a:endParaRPr lang="en-US" sz="1500" dirty="0"/>
          </a:p>
        </p:txBody>
      </p:sp>
      <p:sp>
        <p:nvSpPr>
          <p:cNvPr id="26" name="Text 24"/>
          <p:cNvSpPr/>
          <p:nvPr/>
        </p:nvSpPr>
        <p:spPr>
          <a:xfrm>
            <a:off x="965146" y="4710050"/>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Traffic mobility</a:t>
            </a:r>
            <a:endParaRPr lang="en-US" sz="1200" dirty="0"/>
          </a:p>
        </p:txBody>
      </p:sp>
      <p:sp>
        <p:nvSpPr>
          <p:cNvPr id="27" name="Shape 25"/>
          <p:cNvSpPr/>
          <p:nvPr/>
        </p:nvSpPr>
        <p:spPr>
          <a:xfrm>
            <a:off x="3486158" y="4316366"/>
            <a:ext cx="2546381" cy="734024"/>
          </a:xfrm>
          <a:prstGeom prst="roundRect">
            <a:avLst>
              <a:gd name="adj" fmla="val 10381"/>
            </a:avLst>
          </a:prstGeom>
          <a:solidFill>
            <a:srgbClr val="14213D"/>
          </a:solidFill>
          <a:ln/>
        </p:spPr>
      </p:sp>
      <p:sp>
        <p:nvSpPr>
          <p:cNvPr id="28" name="Text 26"/>
          <p:cNvSpPr/>
          <p:nvPr/>
        </p:nvSpPr>
        <p:spPr>
          <a:xfrm>
            <a:off x="3638527" y="4443366"/>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NS-3</a:t>
            </a:r>
            <a:endParaRPr lang="en-US" sz="1500" dirty="0"/>
          </a:p>
        </p:txBody>
      </p:sp>
      <p:sp>
        <p:nvSpPr>
          <p:cNvPr id="29" name="Text 27"/>
          <p:cNvSpPr/>
          <p:nvPr/>
        </p:nvSpPr>
        <p:spPr>
          <a:xfrm>
            <a:off x="3638527" y="4710050"/>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Network simulation</a:t>
            </a:r>
            <a:endParaRPr lang="en-US" sz="1200" dirty="0"/>
          </a:p>
        </p:txBody>
      </p:sp>
      <p:sp>
        <p:nvSpPr>
          <p:cNvPr id="30" name="Shape 28"/>
          <p:cNvSpPr/>
          <p:nvPr/>
        </p:nvSpPr>
        <p:spPr>
          <a:xfrm>
            <a:off x="6159539" y="4316366"/>
            <a:ext cx="2546381" cy="734024"/>
          </a:xfrm>
          <a:prstGeom prst="roundRect">
            <a:avLst>
              <a:gd name="adj" fmla="val 10381"/>
            </a:avLst>
          </a:prstGeom>
          <a:solidFill>
            <a:srgbClr val="14213D"/>
          </a:solidFill>
          <a:ln/>
        </p:spPr>
      </p:sp>
      <p:sp>
        <p:nvSpPr>
          <p:cNvPr id="31" name="Text 29"/>
          <p:cNvSpPr/>
          <p:nvPr/>
        </p:nvSpPr>
        <p:spPr>
          <a:xfrm>
            <a:off x="6311908" y="4443366"/>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Python + TraCI</a:t>
            </a:r>
            <a:endParaRPr lang="en-US" sz="1500" dirty="0"/>
          </a:p>
        </p:txBody>
      </p:sp>
      <p:sp>
        <p:nvSpPr>
          <p:cNvPr id="32" name="Text 30"/>
          <p:cNvSpPr/>
          <p:nvPr/>
        </p:nvSpPr>
        <p:spPr>
          <a:xfrm>
            <a:off x="6311908" y="4710050"/>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Integration and visualization</a:t>
            </a:r>
            <a:endParaRPr lang="en-US" sz="1200" dirty="0"/>
          </a:p>
        </p:txBody>
      </p:sp>
      <p:sp>
        <p:nvSpPr>
          <p:cNvPr id="33" name="Shape 31"/>
          <p:cNvSpPr/>
          <p:nvPr/>
        </p:nvSpPr>
        <p:spPr>
          <a:xfrm>
            <a:off x="8832921" y="4316366"/>
            <a:ext cx="2546381" cy="734024"/>
          </a:xfrm>
          <a:prstGeom prst="roundRect">
            <a:avLst>
              <a:gd name="adj" fmla="val 10381"/>
            </a:avLst>
          </a:prstGeom>
          <a:solidFill>
            <a:srgbClr val="14213D"/>
          </a:solidFill>
          <a:ln/>
        </p:spPr>
      </p:sp>
      <p:sp>
        <p:nvSpPr>
          <p:cNvPr id="34" name="Text 32"/>
          <p:cNvSpPr/>
          <p:nvPr/>
        </p:nvSpPr>
        <p:spPr>
          <a:xfrm>
            <a:off x="8985289" y="4443366"/>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Ubuntu on VMware</a:t>
            </a:r>
            <a:endParaRPr lang="en-US" sz="1500" dirty="0"/>
          </a:p>
        </p:txBody>
      </p:sp>
      <p:sp>
        <p:nvSpPr>
          <p:cNvPr id="35" name="Text 33"/>
          <p:cNvSpPr/>
          <p:nvPr/>
        </p:nvSpPr>
        <p:spPr>
          <a:xfrm>
            <a:off x="8985289" y="4710050"/>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Platform</a:t>
            </a:r>
            <a:endParaRPr lang="en-US" sz="1200" dirty="0"/>
          </a:p>
        </p:txBody>
      </p:sp>
      <p:sp>
        <p:nvSpPr>
          <p:cNvPr id="36" name="Text 34"/>
          <p:cNvSpPr/>
          <p:nvPr/>
        </p:nvSpPr>
        <p:spPr>
          <a:xfrm>
            <a:off x="11015359" y="5253574"/>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5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508000" y="444500"/>
            <a:ext cx="11511280" cy="372627"/>
          </a:xfrm>
          <a:prstGeom prst="rect">
            <a:avLst/>
          </a:prstGeom>
          <a:noFill/>
          <a:ln/>
        </p:spPr>
        <p:txBody>
          <a:bodyPr wrap="square" lIns="0" tIns="0" rIns="0" bIns="0" rtlCol="0" anchor="t">
            <a:normAutofit/>
          </a:bodyPr>
          <a:lstStyle/>
          <a:p>
            <a:pPr marL="0" indent="0" algn="l">
              <a:lnSpc>
                <a:spcPts val="2767"/>
              </a:lnSpc>
              <a:buNone/>
            </a:pPr>
            <a:r>
              <a:rPr lang="en-US" sz="2406" b="1" i="0" dirty="0">
                <a:solidFill>
                  <a:srgbClr val="14213D"/>
                </a:solidFill>
                <a:latin typeface="Arial" pitchFamily="34" charset="0"/>
                <a:ea typeface="Arial" pitchFamily="34" charset="-122"/>
                <a:cs typeface="Arial" pitchFamily="34" charset="-120"/>
              </a:rPr>
              <a:t>Proposed Network Topology and AODV Header</a:t>
            </a:r>
            <a:endParaRPr lang="en-US" sz="2406" dirty="0"/>
          </a:p>
        </p:txBody>
      </p:sp>
      <p:pic>
        <p:nvPicPr>
          <p:cNvPr id="3" name="Image 0"/>
          <p:cNvPicPr>
            <a:picLocks noChangeAspect="1"/>
          </p:cNvPicPr>
          <p:nvPr/>
        </p:nvPicPr>
        <p:blipFill>
          <a:blip r:embed="rId3"/>
          <a:srcRect/>
          <a:stretch/>
        </p:blipFill>
        <p:spPr>
          <a:xfrm>
            <a:off x="508000" y="969503"/>
            <a:ext cx="6658434" cy="4727804"/>
          </a:xfrm>
          <a:prstGeom prst="rect">
            <a:avLst/>
          </a:prstGeom>
        </p:spPr>
      </p:pic>
      <p:sp>
        <p:nvSpPr>
          <p:cNvPr id="4" name="Text 1"/>
          <p:cNvSpPr/>
          <p:nvPr/>
        </p:nvSpPr>
        <p:spPr>
          <a:xfrm>
            <a:off x="7657626" y="969504"/>
            <a:ext cx="4147166"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Arial" pitchFamily="34" charset="0"/>
                <a:ea typeface="Arial" pitchFamily="34" charset="-122"/>
                <a:cs typeface="Arial" pitchFamily="34" charset="-120"/>
              </a:rPr>
              <a:t>AODV RREQ header (32 bits per row)</a:t>
            </a:r>
            <a:endParaRPr lang="en-US" sz="1300" dirty="0"/>
          </a:p>
        </p:txBody>
      </p:sp>
      <p:sp>
        <p:nvSpPr>
          <p:cNvPr id="5" name="Text 2"/>
          <p:cNvSpPr/>
          <p:nvPr/>
        </p:nvSpPr>
        <p:spPr>
          <a:xfrm>
            <a:off x="7662388" y="1268887"/>
            <a:ext cx="99705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Type = 1</a:t>
            </a:r>
            <a:endParaRPr lang="en-US" sz="900" dirty="0"/>
          </a:p>
        </p:txBody>
      </p:sp>
      <p:sp>
        <p:nvSpPr>
          <p:cNvPr id="6" name="Text 3"/>
          <p:cNvSpPr/>
          <p:nvPr/>
        </p:nvSpPr>
        <p:spPr>
          <a:xfrm>
            <a:off x="8668972" y="1268887"/>
            <a:ext cx="64422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J R G D U</a:t>
            </a:r>
            <a:endParaRPr lang="en-US" sz="900" dirty="0"/>
          </a:p>
        </p:txBody>
      </p:sp>
      <p:sp>
        <p:nvSpPr>
          <p:cNvPr id="7" name="Text 4"/>
          <p:cNvSpPr/>
          <p:nvPr/>
        </p:nvSpPr>
        <p:spPr>
          <a:xfrm>
            <a:off x="9322726" y="1268887"/>
            <a:ext cx="1349928"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Reserved</a:t>
            </a:r>
            <a:endParaRPr lang="en-US" sz="900" dirty="0"/>
          </a:p>
        </p:txBody>
      </p:sp>
      <p:sp>
        <p:nvSpPr>
          <p:cNvPr id="8" name="Text 5"/>
          <p:cNvSpPr/>
          <p:nvPr/>
        </p:nvSpPr>
        <p:spPr>
          <a:xfrm>
            <a:off x="10682179" y="1268887"/>
            <a:ext cx="99705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Hop Count</a:t>
            </a:r>
            <a:endParaRPr lang="en-US" sz="900" dirty="0"/>
          </a:p>
        </p:txBody>
      </p:sp>
      <p:sp>
        <p:nvSpPr>
          <p:cNvPr id="9" name="Text 6"/>
          <p:cNvSpPr/>
          <p:nvPr/>
        </p:nvSpPr>
        <p:spPr>
          <a:xfrm>
            <a:off x="7662388" y="1621600"/>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RREQ ID</a:t>
            </a:r>
            <a:endParaRPr lang="en-US" sz="900" dirty="0"/>
          </a:p>
        </p:txBody>
      </p:sp>
      <p:sp>
        <p:nvSpPr>
          <p:cNvPr id="10" name="Text 7"/>
          <p:cNvSpPr/>
          <p:nvPr/>
        </p:nvSpPr>
        <p:spPr>
          <a:xfrm>
            <a:off x="7662388" y="1974314"/>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Destination IP Address</a:t>
            </a:r>
            <a:endParaRPr lang="en-US" sz="900" dirty="0"/>
          </a:p>
        </p:txBody>
      </p:sp>
      <p:sp>
        <p:nvSpPr>
          <p:cNvPr id="11" name="Text 8"/>
          <p:cNvSpPr/>
          <p:nvPr/>
        </p:nvSpPr>
        <p:spPr>
          <a:xfrm>
            <a:off x="7662388" y="2327027"/>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Destination Sequence Number</a:t>
            </a:r>
            <a:endParaRPr lang="en-US" sz="900" dirty="0"/>
          </a:p>
        </p:txBody>
      </p:sp>
      <p:sp>
        <p:nvSpPr>
          <p:cNvPr id="12" name="Text 9"/>
          <p:cNvSpPr/>
          <p:nvPr/>
        </p:nvSpPr>
        <p:spPr>
          <a:xfrm>
            <a:off x="7662388" y="2679740"/>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Originator IP Address</a:t>
            </a:r>
            <a:endParaRPr lang="en-US" sz="900" dirty="0"/>
          </a:p>
        </p:txBody>
      </p:sp>
      <p:sp>
        <p:nvSpPr>
          <p:cNvPr id="13" name="Text 10"/>
          <p:cNvSpPr/>
          <p:nvPr/>
        </p:nvSpPr>
        <p:spPr>
          <a:xfrm>
            <a:off x="7662388" y="3032454"/>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Originator Sequence Number</a:t>
            </a:r>
            <a:endParaRPr lang="en-US" sz="900" dirty="0"/>
          </a:p>
        </p:txBody>
      </p:sp>
      <p:sp>
        <p:nvSpPr>
          <p:cNvPr id="14" name="Text 11"/>
          <p:cNvSpPr/>
          <p:nvPr/>
        </p:nvSpPr>
        <p:spPr>
          <a:xfrm>
            <a:off x="7657626" y="3380401"/>
            <a:ext cx="4147166"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Arial" pitchFamily="34" charset="0"/>
                <a:ea typeface="Arial" pitchFamily="34" charset="-122"/>
                <a:cs typeface="Arial" pitchFamily="34" charset="-120"/>
              </a:rPr>
              <a:t>AODV RREP header</a:t>
            </a:r>
            <a:endParaRPr lang="en-US" sz="1300" dirty="0"/>
          </a:p>
        </p:txBody>
      </p:sp>
      <p:sp>
        <p:nvSpPr>
          <p:cNvPr id="15" name="Text 12"/>
          <p:cNvSpPr/>
          <p:nvPr/>
        </p:nvSpPr>
        <p:spPr>
          <a:xfrm>
            <a:off x="7662388" y="3679788"/>
            <a:ext cx="98063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Type = 2</a:t>
            </a:r>
            <a:endParaRPr lang="en-US" sz="900" dirty="0"/>
          </a:p>
        </p:txBody>
      </p:sp>
      <p:sp>
        <p:nvSpPr>
          <p:cNvPr id="16" name="Text 13"/>
          <p:cNvSpPr/>
          <p:nvPr/>
        </p:nvSpPr>
        <p:spPr>
          <a:xfrm>
            <a:off x="8652552" y="3679788"/>
            <a:ext cx="287275"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 A</a:t>
            </a:r>
            <a:endParaRPr lang="en-US" sz="900" dirty="0"/>
          </a:p>
        </p:txBody>
      </p:sp>
      <p:sp>
        <p:nvSpPr>
          <p:cNvPr id="17" name="Text 14"/>
          <p:cNvSpPr/>
          <p:nvPr/>
        </p:nvSpPr>
        <p:spPr>
          <a:xfrm>
            <a:off x="8949352" y="3679788"/>
            <a:ext cx="1096200" cy="279688"/>
          </a:xfrm>
          <a:prstGeom prst="rect">
            <a:avLst/>
          </a:prstGeom>
          <a:solidFill>
            <a:srgbClr val="FFFFFF"/>
          </a:solidFill>
          <a:ln w="9525">
            <a:solidFill>
              <a:srgbClr val="14213D"/>
            </a:solidFill>
            <a:prstDash val="solid"/>
          </a:ln>
        </p:spPr>
        <p:txBody>
          <a:bodyPr wrap="square" lIns="2677" tIns="59858" rIns="2676"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Reserved</a:t>
            </a:r>
            <a:endParaRPr lang="en-US" sz="900" dirty="0"/>
          </a:p>
        </p:txBody>
      </p:sp>
      <p:sp>
        <p:nvSpPr>
          <p:cNvPr id="18" name="Text 15"/>
          <p:cNvSpPr/>
          <p:nvPr/>
        </p:nvSpPr>
        <p:spPr>
          <a:xfrm>
            <a:off x="10055077" y="3679788"/>
            <a:ext cx="633957"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Prefix Sz</a:t>
            </a:r>
            <a:endParaRPr lang="en-US" sz="900" dirty="0"/>
          </a:p>
        </p:txBody>
      </p:sp>
      <p:sp>
        <p:nvSpPr>
          <p:cNvPr id="19" name="Text 16"/>
          <p:cNvSpPr/>
          <p:nvPr/>
        </p:nvSpPr>
        <p:spPr>
          <a:xfrm>
            <a:off x="10698559" y="3679788"/>
            <a:ext cx="98063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Hop Count</a:t>
            </a:r>
            <a:endParaRPr lang="en-US" sz="900" dirty="0"/>
          </a:p>
        </p:txBody>
      </p:sp>
      <p:sp>
        <p:nvSpPr>
          <p:cNvPr id="20" name="Text 17"/>
          <p:cNvSpPr/>
          <p:nvPr/>
        </p:nvSpPr>
        <p:spPr>
          <a:xfrm>
            <a:off x="7662388" y="4032501"/>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Destination IP Address</a:t>
            </a:r>
            <a:endParaRPr lang="en-US" sz="900" dirty="0"/>
          </a:p>
        </p:txBody>
      </p:sp>
      <p:sp>
        <p:nvSpPr>
          <p:cNvPr id="21" name="Shape 18"/>
          <p:cNvSpPr/>
          <p:nvPr/>
        </p:nvSpPr>
        <p:spPr>
          <a:xfrm>
            <a:off x="7662388" y="4385211"/>
            <a:ext cx="4016850" cy="439722"/>
          </a:xfrm>
          <a:prstGeom prst="rect">
            <a:avLst/>
          </a:prstGeom>
          <a:solidFill>
            <a:srgbClr val="FCE9C8"/>
          </a:solidFill>
          <a:ln w="9525">
            <a:solidFill>
              <a:srgbClr val="14213D"/>
            </a:solidFill>
            <a:prstDash val="solid"/>
          </a:ln>
        </p:spPr>
      </p:sp>
      <p:sp>
        <p:nvSpPr>
          <p:cNvPr id="22" name="Text 19"/>
          <p:cNvSpPr/>
          <p:nvPr/>
        </p:nvSpPr>
        <p:spPr>
          <a:xfrm>
            <a:off x="7631054" y="4445040"/>
            <a:ext cx="4079517" cy="185434"/>
          </a:xfrm>
          <a:prstGeom prst="rect">
            <a:avLst/>
          </a:prstGeom>
          <a:noFill/>
          <a:ln/>
        </p:spPr>
        <p:txBody>
          <a:bodyPr wrap="square" lIns="0" tIns="0" rIns="0" bIns="0" rtlCol="0" anchor="t">
            <a:normAutofit/>
          </a:bodyPr>
          <a:lstStyle/>
          <a:p>
            <a:pPr marL="0" indent="0" algn="ctr">
              <a:lnSpc>
                <a:spcPts val="1260"/>
              </a:lnSpc>
              <a:buNone/>
            </a:pPr>
            <a:r>
              <a:rPr lang="en-US" sz="900" b="1" dirty="0">
                <a:solidFill>
                  <a:srgbClr val="14213D"/>
                </a:solidFill>
                <a:latin typeface="Arial" pitchFamily="34" charset="0"/>
                <a:ea typeface="Arial" pitchFamily="34" charset="-122"/>
                <a:cs typeface="Arial" pitchFamily="34" charset="-120"/>
              </a:rPr>
              <a:t>Destination Sequence Number</a:t>
            </a:r>
            <a:endParaRPr lang="en-US" sz="900" dirty="0"/>
          </a:p>
        </p:txBody>
      </p:sp>
      <p:sp>
        <p:nvSpPr>
          <p:cNvPr id="23" name="Text 20"/>
          <p:cNvSpPr/>
          <p:nvPr/>
        </p:nvSpPr>
        <p:spPr>
          <a:xfrm>
            <a:off x="7631054" y="4605074"/>
            <a:ext cx="4079517" cy="185434"/>
          </a:xfrm>
          <a:prstGeom prst="rect">
            <a:avLst/>
          </a:prstGeom>
          <a:noFill/>
          <a:ln/>
        </p:spPr>
        <p:txBody>
          <a:bodyPr wrap="square" lIns="0" tIns="0" rIns="0" bIns="0" rtlCol="0" anchor="t">
            <a:normAutofit/>
          </a:bodyPr>
          <a:lstStyle/>
          <a:p>
            <a:pPr marL="0" indent="0" algn="ctr">
              <a:lnSpc>
                <a:spcPts val="1260"/>
              </a:lnSpc>
              <a:buNone/>
            </a:pPr>
            <a:r>
              <a:rPr lang="en-US" sz="900" b="1" dirty="0">
                <a:solidFill>
                  <a:srgbClr val="B3261E"/>
                </a:solidFill>
                <a:latin typeface="Arial" pitchFamily="34" charset="0"/>
                <a:ea typeface="Arial" pitchFamily="34" charset="-122"/>
                <a:cs typeface="Arial" pitchFamily="34" charset="-120"/>
              </a:rPr>
              <a:t>◄ Black hole</a:t>
            </a:r>
            <a:endParaRPr lang="en-US" sz="900" dirty="0"/>
          </a:p>
        </p:txBody>
      </p:sp>
      <p:sp>
        <p:nvSpPr>
          <p:cNvPr id="24" name="Text 21"/>
          <p:cNvSpPr/>
          <p:nvPr/>
        </p:nvSpPr>
        <p:spPr>
          <a:xfrm>
            <a:off x="7662388" y="4897958"/>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Originator IP Address</a:t>
            </a:r>
            <a:endParaRPr lang="en-US" sz="900" dirty="0"/>
          </a:p>
        </p:txBody>
      </p:sp>
      <p:sp>
        <p:nvSpPr>
          <p:cNvPr id="25" name="Text 22"/>
          <p:cNvSpPr/>
          <p:nvPr/>
        </p:nvSpPr>
        <p:spPr>
          <a:xfrm>
            <a:off x="7662388" y="5250672"/>
            <a:ext cx="401685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Lifetime</a:t>
            </a:r>
            <a:endParaRPr lang="en-US" sz="900" dirty="0"/>
          </a:p>
        </p:txBody>
      </p:sp>
      <p:sp>
        <p:nvSpPr>
          <p:cNvPr id="26" name="Text 23"/>
          <p:cNvSpPr/>
          <p:nvPr/>
        </p:nvSpPr>
        <p:spPr>
          <a:xfrm>
            <a:off x="7684196" y="5598623"/>
            <a:ext cx="4026375" cy="647646"/>
          </a:xfrm>
          <a:prstGeom prst="roundRect">
            <a:avLst>
              <a:gd name="adj" fmla="val 7844"/>
            </a:avLst>
          </a:prstGeom>
          <a:solidFill>
            <a:srgbClr val="FDECEA"/>
          </a:solidFill>
          <a:ln/>
        </p:spPr>
        <p:txBody>
          <a:bodyPr wrap="square" lIns="136517" tIns="61321" rIns="0" bIns="35890" rtlCol="0" anchor="t">
            <a:normAutofit/>
          </a:bodyPr>
          <a:lstStyle/>
          <a:p>
            <a:pPr marL="0" indent="0" algn="l">
              <a:lnSpc>
                <a:spcPts val="1300"/>
              </a:lnSpc>
              <a:buNone/>
            </a:pPr>
            <a:r>
              <a:rPr lang="en-US" sz="1000" dirty="0">
                <a:solidFill>
                  <a:srgbClr val="14213D"/>
                </a:solidFill>
                <a:latin typeface="Arial" pitchFamily="34" charset="0"/>
                <a:ea typeface="Arial" pitchFamily="34" charset="-122"/>
                <a:cs typeface="Arial" pitchFamily="34" charset="-120"/>
              </a:rPr>
              <a:t>a forged RREP advertises an inflated Destination Sequence Number (highlighted) to attract the route, then Vehicle 20 drops the packets [6]</a:t>
            </a:r>
            <a:endParaRPr lang="en-US" sz="1000" dirty="0"/>
          </a:p>
        </p:txBody>
      </p:sp>
      <p:sp>
        <p:nvSpPr>
          <p:cNvPr id="27" name="Shape 24"/>
          <p:cNvSpPr/>
          <p:nvPr/>
        </p:nvSpPr>
        <p:spPr>
          <a:xfrm>
            <a:off x="7657626" y="5598623"/>
            <a:ext cx="4026375" cy="647646"/>
          </a:xfrm>
          <a:custGeom>
            <a:avLst/>
            <a:gdLst/>
            <a:ahLst/>
            <a:cxnLst/>
            <a:rect l="l" t="t" r="r" b="b"/>
            <a:pathLst>
              <a:path w="4026375" h="647646">
                <a:moveTo>
                  <a:pt x="50800" y="647646"/>
                </a:moveTo>
                <a:lnTo>
                  <a:pt x="50800" y="647646"/>
                </a:lnTo>
                <a:arcTo wR="50800" hR="50800" stAng="5400000" swAng="5400000"/>
                <a:lnTo>
                  <a:pt x="0" y="50800"/>
                </a:lnTo>
                <a:arcTo wR="50800" hR="50800" stAng="10800000" swAng="5400000"/>
                <a:lnTo>
                  <a:pt x="50800" y="0"/>
                </a:lnTo>
                <a:lnTo>
                  <a:pt x="50800" y="647646"/>
                </a:lnTo>
                <a:close/>
              </a:path>
            </a:pathLst>
          </a:custGeom>
          <a:solidFill>
            <a:srgbClr val="B3261E"/>
          </a:solidFill>
          <a:ln/>
        </p:spPr>
      </p:sp>
      <p:sp>
        <p:nvSpPr>
          <p:cNvPr id="28" name="Text 25"/>
          <p:cNvSpPr/>
          <p:nvPr/>
        </p:nvSpPr>
        <p:spPr>
          <a:xfrm>
            <a:off x="7657626" y="6309770"/>
            <a:ext cx="4026375" cy="647646"/>
          </a:xfrm>
          <a:prstGeom prst="roundRect">
            <a:avLst>
              <a:gd name="adj" fmla="val 7844"/>
            </a:avLst>
          </a:prstGeom>
          <a:solidFill>
            <a:srgbClr val="E6EEF8"/>
          </a:solidFill>
          <a:ln/>
        </p:spPr>
        <p:txBody>
          <a:bodyPr wrap="square" lIns="136517" tIns="61321" rIns="0" bIns="35890" rtlCol="0" anchor="t">
            <a:normAutofit/>
          </a:bodyPr>
          <a:lstStyle/>
          <a:p>
            <a:pPr marL="0" indent="0" algn="l">
              <a:lnSpc>
                <a:spcPts val="1300"/>
              </a:lnSpc>
              <a:buNone/>
            </a:pPr>
            <a:r>
              <a:rPr lang="en-US" sz="1000" dirty="0">
                <a:solidFill>
                  <a:srgbClr val="14213D"/>
                </a:solidFill>
                <a:latin typeface="Arial" pitchFamily="34" charset="0"/>
                <a:ea typeface="Arial" pitchFamily="34" charset="-122"/>
                <a:cs typeface="Arial" pitchFamily="34" charset="-120"/>
              </a:rPr>
              <a:t>no AODV header field is changed; the attacker interferes with the radio channel, so RREQ, RREP and data packets are corrupted or lost</a:t>
            </a:r>
            <a:endParaRPr lang="en-US" sz="1000" dirty="0"/>
          </a:p>
        </p:txBody>
      </p:sp>
      <p:sp>
        <p:nvSpPr>
          <p:cNvPr id="29" name="Shape 26"/>
          <p:cNvSpPr/>
          <p:nvPr/>
        </p:nvSpPr>
        <p:spPr>
          <a:xfrm>
            <a:off x="7657626" y="6309770"/>
            <a:ext cx="4026375" cy="647646"/>
          </a:xfrm>
          <a:custGeom>
            <a:avLst/>
            <a:gdLst/>
            <a:ahLst/>
            <a:cxnLst/>
            <a:rect l="l" t="t" r="r" b="b"/>
            <a:pathLst>
              <a:path w="4026375" h="647646">
                <a:moveTo>
                  <a:pt x="50800" y="647646"/>
                </a:moveTo>
                <a:lnTo>
                  <a:pt x="50800" y="647646"/>
                </a:lnTo>
                <a:arcTo wR="50800" hR="50800" stAng="5400000" swAng="5400000"/>
                <a:lnTo>
                  <a:pt x="0" y="50800"/>
                </a:lnTo>
                <a:arcTo wR="50800" hR="50800" stAng="10800000" swAng="5400000"/>
                <a:lnTo>
                  <a:pt x="50800" y="0"/>
                </a:lnTo>
                <a:lnTo>
                  <a:pt x="50800" y="647646"/>
                </a:lnTo>
                <a:close/>
              </a:path>
            </a:pathLst>
          </a:custGeom>
          <a:solidFill>
            <a:srgbClr val="4A6FA5"/>
          </a:solidFill>
          <a:ln/>
        </p:spPr>
      </p:sp>
      <p:sp>
        <p:nvSpPr>
          <p:cNvPr id="30" name="Text 27"/>
          <p:cNvSpPr/>
          <p:nvPr/>
        </p:nvSpPr>
        <p:spPr>
          <a:xfrm>
            <a:off x="11364446" y="6232339"/>
            <a:ext cx="319554" cy="206523"/>
          </a:xfrm>
          <a:prstGeom prst="rect">
            <a:avLst/>
          </a:prstGeom>
          <a:noFill/>
          <a:ln/>
        </p:spPr>
        <p:txBody>
          <a:bodyPr wrap="square" lIns="0" tIns="0" rIns="0" bIns="0" rtlCol="0" anchor="t">
            <a:normAutofit/>
          </a:bodyPr>
          <a:lstStyle/>
          <a:p>
            <a:pPr marL="0" indent="0" algn="r">
              <a:lnSpc>
                <a:spcPts val="1475"/>
              </a:lnSpc>
              <a:buNone/>
            </a:pPr>
            <a:r>
              <a:rPr lang="en-US" sz="1054" dirty="0">
                <a:solidFill>
                  <a:srgbClr val="5B6B7F"/>
                </a:solidFill>
                <a:latin typeface="Arial" pitchFamily="34" charset="0"/>
                <a:ea typeface="Arial" pitchFamily="34" charset="-122"/>
                <a:cs typeface="Arial" pitchFamily="34" charset="-120"/>
              </a:rPr>
              <a:t>6 / 9</a:t>
            </a:r>
            <a:endParaRPr lang="en-US" sz="105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711184"/>
            <a:ext cx="10883440" cy="482118"/>
          </a:xfrm>
          <a:prstGeom prst="rect">
            <a:avLst/>
          </a:prstGeom>
          <a:noFill/>
          <a:ln/>
        </p:spPr>
        <p:txBody>
          <a:bodyPr wrap="square" lIns="0" tIns="0" rIns="0" bIns="0" rtlCol="0" anchor="t">
            <a:normAutofit/>
          </a:bodyPr>
          <a:lstStyle/>
          <a:p>
            <a:pPr marL="0" indent="0" algn="l">
              <a:lnSpc>
                <a:spcPts val="3622"/>
              </a:lnSpc>
              <a:buNone/>
            </a:pPr>
            <a:r>
              <a:rPr lang="en-US" sz="3150" b="1" i="0" dirty="0">
                <a:solidFill>
                  <a:srgbClr val="14213D"/>
                </a:solidFill>
                <a:latin typeface="Arial" pitchFamily="34" charset="0"/>
                <a:ea typeface="Arial" pitchFamily="34" charset="-122"/>
                <a:cs typeface="Arial" pitchFamily="34" charset="-120"/>
              </a:rPr>
              <a:t>Experimental Results</a:t>
            </a:r>
            <a:endParaRPr lang="en-US" sz="3150" dirty="0"/>
          </a:p>
        </p:txBody>
      </p:sp>
      <p:sp>
        <p:nvSpPr>
          <p:cNvPr id="3" name="Text 1"/>
          <p:cNvSpPr/>
          <p:nvPr/>
        </p:nvSpPr>
        <p:spPr>
          <a:xfrm>
            <a:off x="812777" y="1294904"/>
            <a:ext cx="10883440" cy="338192"/>
          </a:xfrm>
          <a:prstGeom prst="rect">
            <a:avLst/>
          </a:prstGeom>
          <a:noFill/>
          <a:ln/>
        </p:spPr>
        <p:txBody>
          <a:bodyPr wrap="square" lIns="0" tIns="0" rIns="0" bIns="0" rtlCol="0" anchor="t">
            <a:normAutofit/>
          </a:bodyPr>
          <a:lstStyle/>
          <a:p>
            <a:pPr marL="0" indent="0" algn="l">
              <a:lnSpc>
                <a:spcPts val="2473"/>
              </a:lnSpc>
              <a:buNone/>
            </a:pPr>
            <a:r>
              <a:rPr lang="en-US" sz="1766" b="1" dirty="0">
                <a:solidFill>
                  <a:srgbClr val="0B7A75"/>
                </a:solidFill>
                <a:latin typeface="Arial" pitchFamily="34" charset="0"/>
                <a:ea typeface="Arial" pitchFamily="34" charset="-122"/>
                <a:cs typeface="Arial" pitchFamily="34" charset="-120"/>
              </a:rPr>
              <a:t>Network Performance Under Attack</a:t>
            </a:r>
            <a:endParaRPr lang="en-US" sz="1766"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228" y="1747145"/>
          <a:ext cx="10553997" cy="4065866"/>
        </p:xfrm>
        <a:graphic>
          <a:graphicData uri="http://schemas.openxmlformats.org/drawingml/2006/table">
            <a:tbl>
              <a:tblPr/>
              <a:tblGrid>
                <a:gridCol w="3517999">
                  <a:extLst>
                    <a:ext uri="{9D8B030D-6E8A-4147-A177-3AD203B41FA5}">
                      <a16:colId xmlns:a16="http://schemas.microsoft.com/office/drawing/2014/main" val="20000"/>
                    </a:ext>
                  </a:extLst>
                </a:gridCol>
                <a:gridCol w="3517999">
                  <a:extLst>
                    <a:ext uri="{9D8B030D-6E8A-4147-A177-3AD203B41FA5}">
                      <a16:colId xmlns:a16="http://schemas.microsoft.com/office/drawing/2014/main" val="20001"/>
                    </a:ext>
                  </a:extLst>
                </a:gridCol>
                <a:gridCol w="3517999">
                  <a:extLst>
                    <a:ext uri="{9D8B030D-6E8A-4147-A177-3AD203B41FA5}">
                      <a16:colId xmlns:a16="http://schemas.microsoft.com/office/drawing/2014/main" val="20002"/>
                    </a:ext>
                  </a:extLst>
                </a:gridCol>
              </a:tblGrid>
              <a:tr h="580838">
                <a:tc>
                  <a:txBody>
                    <a:bodyPr/>
                    <a:lstStyle/>
                    <a:p>
                      <a:pPr marL="0" indent="0">
                        <a:lnSpc>
                          <a:spcPts val="2276"/>
                        </a:lnSpc>
                        <a:buNone/>
                      </a:pPr>
                      <a:r>
                        <a:rPr lang="en-US" sz="1626" b="1" dirty="0">
                          <a:solidFill>
                            <a:srgbClr val="F4F6F8"/>
                          </a:solidFill>
                          <a:latin typeface="Arial" pitchFamily="34" charset="0"/>
                          <a:ea typeface="Arial" pitchFamily="34" charset="-122"/>
                          <a:cs typeface="Arial" pitchFamily="34" charset="-120"/>
                        </a:rPr>
                        <a:t>Metric</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76"/>
                        </a:lnSpc>
                        <a:buNone/>
                      </a:pPr>
                      <a:r>
                        <a:rPr lang="en-US" sz="1626" b="1" dirty="0">
                          <a:solidFill>
                            <a:srgbClr val="F4F6F8"/>
                          </a:solidFill>
                          <a:latin typeface="Arial" pitchFamily="34" charset="0"/>
                          <a:ea typeface="Arial" pitchFamily="34" charset="-122"/>
                          <a:cs typeface="Arial" pitchFamily="34" charset="-120"/>
                        </a:rPr>
                        <a:t>Normal</a:t>
                      </a:r>
                      <a:endParaRPr lang="en-US" sz="1626" dirty="0">
                        <a:latin typeface="Arial" charset="0"/>
                        <a:ea typeface="Arial" charset="0"/>
                        <a:cs typeface="Arial" charset="0"/>
                      </a:endParaRPr>
                    </a:p>
                  </a:txBody>
                  <a:tcPr marL="177800" marR="177800" marT="139700" marB="1397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76"/>
                        </a:lnSpc>
                        <a:buNone/>
                      </a:pPr>
                      <a:r>
                        <a:rPr lang="en-US" sz="1626" b="1" dirty="0">
                          <a:solidFill>
                            <a:srgbClr val="F4F6F8"/>
                          </a:solidFill>
                          <a:latin typeface="Arial" pitchFamily="34" charset="0"/>
                          <a:ea typeface="Arial" pitchFamily="34" charset="-122"/>
                          <a:cs typeface="Arial" pitchFamily="34" charset="-120"/>
                        </a:rPr>
                        <a:t>Under Attack</a:t>
                      </a:r>
                      <a:endParaRPr lang="en-US" sz="1626" dirty="0">
                        <a:latin typeface="Arial" charset="0"/>
                        <a:ea typeface="Arial" charset="0"/>
                        <a:cs typeface="Arial" charset="0"/>
                      </a:endParaRPr>
                    </a:p>
                  </a:txBody>
                  <a:tcPr marL="177800" marR="177800" marT="139700" marB="1397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Sent Packets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42</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42</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Received Packets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36</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25</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PDR</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85.71%</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59.52%</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Packet Loss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6</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17</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4"/>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Throughput</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0.6588 Kbps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0.451 Kbps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5"/>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Average Delay</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59.39 ms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58.20 ms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11016480" y="5938379"/>
            <a:ext cx="362744" cy="233876"/>
          </a:xfrm>
          <a:prstGeom prst="rect">
            <a:avLst/>
          </a:prstGeom>
          <a:noFill/>
          <a:ln/>
        </p:spPr>
        <p:txBody>
          <a:bodyPr wrap="square" lIns="0" tIns="0" rIns="0" bIns="0" rtlCol="0" anchor="t">
            <a:normAutofit/>
          </a:bodyPr>
          <a:lstStyle/>
          <a:p>
            <a:pPr marL="0" indent="0" algn="r">
              <a:lnSpc>
                <a:spcPts val="1675"/>
              </a:lnSpc>
              <a:buNone/>
            </a:pPr>
            <a:r>
              <a:rPr lang="en-US" sz="1196" dirty="0">
                <a:solidFill>
                  <a:srgbClr val="5B6B7F"/>
                </a:solidFill>
                <a:latin typeface="Arial" pitchFamily="34" charset="0"/>
                <a:ea typeface="Arial" pitchFamily="34" charset="-122"/>
                <a:cs typeface="Arial" pitchFamily="34" charset="-120"/>
              </a:rPr>
              <a:t>7 / 9</a:t>
            </a:r>
            <a:endParaRPr lang="en-US" sz="1196"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71500"/>
            <a:ext cx="10883440" cy="463519"/>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E8A33D"/>
                </a:solidFill>
                <a:latin typeface="Arial" pitchFamily="34" charset="0"/>
                <a:ea typeface="Arial" pitchFamily="34" charset="-122"/>
                <a:cs typeface="Arial" pitchFamily="34" charset="-120"/>
              </a:rPr>
              <a:t>Where We Stopped and What Continues</a:t>
            </a:r>
            <a:endParaRPr lang="en-US" sz="3000" dirty="0"/>
          </a:p>
        </p:txBody>
      </p:sp>
      <p:sp>
        <p:nvSpPr>
          <p:cNvPr id="3" name="Shape 1"/>
          <p:cNvSpPr/>
          <p:nvPr/>
        </p:nvSpPr>
        <p:spPr>
          <a:xfrm>
            <a:off x="812777" y="1212803"/>
            <a:ext cx="10566447" cy="924446"/>
          </a:xfrm>
          <a:prstGeom prst="roundRect">
            <a:avLst>
              <a:gd name="adj" fmla="val 10990"/>
            </a:avLst>
          </a:prstGeom>
          <a:solidFill>
            <a:srgbClr val="E8A33D"/>
          </a:solidFill>
          <a:ln/>
        </p:spPr>
        <p:txBody>
          <a:bodyPr/>
          <a:lstStyle/>
          <a:p>
            <a:endParaRPr lang="ar-SA" dirty="0"/>
          </a:p>
        </p:txBody>
      </p:sp>
      <p:sp>
        <p:nvSpPr>
          <p:cNvPr id="4" name="Text 2"/>
          <p:cNvSpPr/>
          <p:nvPr/>
        </p:nvSpPr>
        <p:spPr>
          <a:xfrm>
            <a:off x="1041369" y="1365172"/>
            <a:ext cx="10412541" cy="327648"/>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We stopped at: Black Hole stage 1 (malicious packet dropping) with offline detection</a:t>
            </a:r>
            <a:endParaRPr lang="en-US" sz="1700" dirty="0"/>
          </a:p>
        </p:txBody>
      </p:sp>
      <p:sp>
        <p:nvSpPr>
          <p:cNvPr id="5" name="Text 3"/>
          <p:cNvSpPr/>
          <p:nvPr/>
        </p:nvSpPr>
        <p:spPr>
          <a:xfrm>
            <a:off x="1041369" y="1718196"/>
            <a:ext cx="10412541" cy="29208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Arial" pitchFamily="34" charset="0"/>
                <a:ea typeface="Arial" pitchFamily="34" charset="-122"/>
                <a:cs typeface="Arial" pitchFamily="34" charset="-120"/>
              </a:rPr>
              <a:t>Continuing now: forged RREP, then physical-layer Jamming</a:t>
            </a:r>
            <a:endParaRPr lang="en-US" sz="1500" dirty="0"/>
          </a:p>
        </p:txBody>
      </p:sp>
      <p:sp>
        <p:nvSpPr>
          <p:cNvPr id="6" name="Text 4"/>
          <p:cNvSpPr/>
          <p:nvPr/>
        </p:nvSpPr>
        <p:spPr>
          <a:xfrm>
            <a:off x="812777" y="2340434"/>
            <a:ext cx="6310300" cy="314963"/>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E8A33D"/>
                </a:solidFill>
                <a:latin typeface="Arial" pitchFamily="34" charset="0"/>
                <a:ea typeface="Arial" pitchFamily="34" charset="-122"/>
                <a:cs typeface="Arial" pitchFamily="34" charset="-120"/>
              </a:rPr>
              <a:t>Completed</a:t>
            </a:r>
            <a:endParaRPr lang="en-US" sz="1900" dirty="0"/>
          </a:p>
        </p:txBody>
      </p:sp>
      <p:sp>
        <p:nvSpPr>
          <p:cNvPr id="7" name="Text 5"/>
          <p:cNvSpPr/>
          <p:nvPr/>
        </p:nvSpPr>
        <p:spPr>
          <a:xfrm>
            <a:off x="903709" y="2731591"/>
            <a:ext cx="6211748" cy="1874682"/>
          </a:xfrm>
          <a:prstGeom prst="rect">
            <a:avLst/>
          </a:prstGeom>
          <a:noFill/>
          <a:ln/>
        </p:spPr>
        <p:txBody>
          <a:bodyPr wrap="square" lIns="0" tIns="0" rIns="0" bIns="0" rtlCol="0" anchor="t">
            <a:normAutofit/>
          </a:bodyPr>
          <a:lstStyle/>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VANET simulation with 40 vehicles and 2 RSUs using NS-3 and SUMO</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AODV-based multi-hop network simulation</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Security solution evaluation</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Malicious packet-dropping implementation</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Offline behavioral Black Hole detection using packet reception and forwarding traces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Detection evaluation under different attacker configurations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SUMO visualization of the malicious vehicle</a:t>
            </a:r>
            <a:endParaRPr lang="en-US" sz="1400" dirty="0"/>
          </a:p>
        </p:txBody>
      </p:sp>
      <p:sp>
        <p:nvSpPr>
          <p:cNvPr id="8" name="Text 6"/>
          <p:cNvSpPr/>
          <p:nvPr/>
        </p:nvSpPr>
        <p:spPr>
          <a:xfrm>
            <a:off x="7294874" y="2340434"/>
            <a:ext cx="4206880" cy="314963"/>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E8A33D"/>
                </a:solidFill>
                <a:latin typeface="Arial" pitchFamily="34" charset="0"/>
                <a:ea typeface="Arial" pitchFamily="34" charset="-122"/>
                <a:cs typeface="Arial" pitchFamily="34" charset="-120"/>
              </a:rPr>
              <a:t>Continuing Now (Future Work)</a:t>
            </a:r>
            <a:endParaRPr lang="en-US" sz="1900" dirty="0"/>
          </a:p>
        </p:txBody>
      </p:sp>
      <p:sp>
        <p:nvSpPr>
          <p:cNvPr id="9" name="Text 7"/>
          <p:cNvSpPr/>
          <p:nvPr/>
        </p:nvSpPr>
        <p:spPr>
          <a:xfrm>
            <a:off x="7393426" y="2731591"/>
            <a:ext cx="4108328" cy="1643522"/>
          </a:xfrm>
          <a:prstGeom prst="rect">
            <a:avLst/>
          </a:prstGeom>
          <a:noFill/>
          <a:ln/>
        </p:spPr>
        <p:txBody>
          <a:bodyPr wrap="square" lIns="0" tIns="0" rIns="0" bIns="0" rtlCol="0" anchor="t">
            <a:normAutofit/>
          </a:bodyPr>
          <a:lstStyle/>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Complete Black Hole attack using forged RREP messages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Implement physical-layer Jamming attack</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Extend detection evaluation across more scenarios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Improve real-time attack detection and mitigation</a:t>
            </a:r>
            <a:endParaRPr lang="en-US" sz="1400" dirty="0"/>
          </a:p>
        </p:txBody>
      </p:sp>
      <p:sp>
        <p:nvSpPr>
          <p:cNvPr id="10" name="Text 8"/>
          <p:cNvSpPr/>
          <p:nvPr/>
        </p:nvSpPr>
        <p:spPr>
          <a:xfrm>
            <a:off x="11015359" y="4784055"/>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Arial" pitchFamily="34" charset="0"/>
                <a:ea typeface="Arial" pitchFamily="34" charset="-122"/>
                <a:cs typeface="Arial" pitchFamily="34" charset="-120"/>
              </a:rPr>
              <a:t>8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71500"/>
            <a:ext cx="10883440" cy="463519"/>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Arial" pitchFamily="34" charset="0"/>
                <a:ea typeface="Arial" pitchFamily="34" charset="-122"/>
                <a:cs typeface="Arial" pitchFamily="34" charset="-120"/>
              </a:rPr>
              <a:t>References</a:t>
            </a:r>
            <a:endParaRPr lang="en-US" sz="3000" dirty="0"/>
          </a:p>
        </p:txBody>
      </p:sp>
      <p:sp>
        <p:nvSpPr>
          <p:cNvPr id="3" name="Text 1"/>
          <p:cNvSpPr/>
          <p:nvPr/>
        </p:nvSpPr>
        <p:spPr>
          <a:xfrm>
            <a:off x="889973" y="1238213"/>
            <a:ext cx="10798624" cy="2600418"/>
          </a:xfrm>
          <a:prstGeom prst="rect">
            <a:avLst/>
          </a:prstGeom>
          <a:noFill/>
          <a:ln/>
        </p:spPr>
        <p:txBody>
          <a:bodyPr wrap="square" lIns="0" tIns="0" rIns="0" bIns="0" rtlCol="0" anchor="t">
            <a:normAutofit/>
          </a:bodyPr>
          <a:lstStyle/>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[1] R. J. Borah and D. Ganga, “Performance analysis of AODV-based VANETs in Guwahati city: a comparative study of propagation models,” Int. J. Vehicle Information and Communication Systems, vol. 10, no. 1, pp. 61–84,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[2] N. F. Alfarizi, M. T. Nuruzzaman, S. Uyun, B. Sugiantoro, and M. F. A. bin Abdullah, “Performance Evaluation of Vehicular Ad Hoc Networks Considering Malicious Node Impact on Quality of Services Metrics,” Jurnal Online Informatika, vol. 10, no. 2, pp. 299–307,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[3] M. Ghute and Y. Suryawanshi, “Discovering authentic routes using a cryptographic approach against blackhole attack,” EURASIP J. Wireless Commun. Netw., vol. 2025, Art. no. 86,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[4] N. A. K. Zghair, W. K. Jawad, J. J. Alwash, M. A. Almaiah, and R. Shehab, “GAN-augmented adversarial training for robust detection of complex jamming attacks in VANET intelligent systems,” Int. J. Innovative Research and Scientific Studies, vol. 8, no. 3, pp. 4304–4314,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[5] A. S. Srinivas T et al., “Leveraging DenseNet-ABiLSTM for Effective Jamming Attack Detection in VANETs: A Hybrid Model with DRA-driven Feature Optimization,” Int. J. Intelligent Engineering and Systems, vol. 18, no. 11,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[6] C. Perkins, E. Belding-Royer, and S. Das, “Ad hoc On-Demand Distance Vector (AODV) Routing,” RFC 3561, IETF, Jul. 2003.</a:t>
            </a:r>
            <a:endParaRPr lang="en-US" sz="1300" dirty="0"/>
          </a:p>
        </p:txBody>
      </p:sp>
      <p:sp>
        <p:nvSpPr>
          <p:cNvPr id="4" name="Text 2"/>
          <p:cNvSpPr/>
          <p:nvPr/>
        </p:nvSpPr>
        <p:spPr>
          <a:xfrm>
            <a:off x="11015359" y="4041825"/>
            <a:ext cx="363864"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9 / 9</a:t>
            </a:r>
            <a:endParaRPr lang="en-US" sz="1200" dirty="0"/>
          </a:p>
        </p:txBody>
      </p:sp>
    </p:spTree>
  </p:cSld>
  <p:clrMapOvr>
    <a:masterClrMapping/>
  </p:clrMapOvr>
</p:sld>
</file>

<file path=ppt/theme/theme1.xml><?xml version="1.0" encoding="utf-8"?>
<a:theme xmlns:a="http://schemas.openxmlformats.org/drawingml/2006/main" name="VANET Security – Graduation Project (1) Presentation">
  <a:themeElements>
    <a:clrScheme name="VANET Security – Graduation Project (1) Presentation">
      <a:dk1>
        <a:srgbClr val="14213D"/>
      </a:dk1>
      <a:lt1>
        <a:srgbClr val="F4F6F8"/>
      </a:lt1>
      <a:dk2>
        <a:srgbClr val="4C566C"/>
      </a:dk2>
      <a:lt2>
        <a:srgbClr val="DEE1E5"/>
      </a:lt2>
      <a:accent1>
        <a:srgbClr val="E8A33D"/>
      </a:accent1>
      <a:accent2>
        <a:srgbClr val="0B7A75"/>
      </a:accent2>
      <a:accent3>
        <a:srgbClr val="9FB3C8"/>
      </a:accent3>
      <a:accent4>
        <a:srgbClr val="FCE9C8"/>
      </a:accent4>
      <a:accent5>
        <a:srgbClr val="B3261E"/>
      </a:accent5>
      <a:accent6>
        <a:srgbClr val="5B6B7F"/>
      </a:accent6>
      <a:hlink>
        <a:srgbClr val="0563C1"/>
      </a:hlink>
      <a:folHlink>
        <a:srgbClr val="954F72"/>
      </a:folHlink>
    </a:clrScheme>
    <a:fontScheme name="VANET Security – Graduation Project (1)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شاشة عريضة</PresentationFormat>
  <Paragraphs>0</Paragraphs>
  <Slides>9</Slides>
  <Notes>9</Notes>
  <HiddenSlides>0</HiddenSlides>
  <MMClips>0</MMClips>
  <ScaleCrop>false</ScaleCrop>
  <HeadingPairs>
    <vt:vector size="4" baseType="variant">
      <vt:variant>
        <vt:lpstr>نسق</vt:lpstr>
      </vt:variant>
      <vt:variant>
        <vt:i4>1</vt:i4>
      </vt:variant>
      <vt:variant>
        <vt:lpstr>عناوين الشرائح</vt:lpstr>
      </vt:variant>
      <vt:variant>
        <vt:i4>9</vt:i4>
      </vt:variant>
    </vt:vector>
  </HeadingPairs>
  <TitlesOfParts>
    <vt:vector size="10" baseType="lpstr">
      <vt:lpstr>VANET Security – Graduation Project (1) Presentation</vt:lpstr>
      <vt:lpstr>Analyzing Security Vulnerabilities and Developing Defense Mechanisms in Vehicular Ad Hoc Networks (VANET)</vt:lpstr>
      <vt:lpstr>Project Objective and Previous Stages</vt:lpstr>
      <vt:lpstr>Literature Review (1/2): Comparison Table</vt:lpstr>
      <vt:lpstr>Literature Review (2/2): Comparison Table and Research Gap</vt:lpstr>
      <vt:lpstr>Implementation Phases and Tools</vt:lpstr>
      <vt:lpstr>Proposed Network Topology and AODV Header</vt:lpstr>
      <vt:lpstr>Experimental Results</vt:lpstr>
      <vt:lpstr>Where We Stopped and What Continues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VANET Security – Graduation Project (1) Presentation</dc:title>
  <dc:subject/>
  <dc:creator/>
  <cp:lastModifiedBy>Niniomi@hotmail.com</cp:lastModifiedBy>
  <cp:revision>2</cp:revision>
  <dcterms:created xsi:type="dcterms:W3CDTF">2026-10-29T09:16:43Z</dcterms:created>
  <dcterms:modified xsi:type="dcterms:W3CDTF">2026-10-29T09:19:50Z</dcterms:modified>
</cp:coreProperties>
</file>